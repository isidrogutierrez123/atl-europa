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0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266147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405459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27564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70157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118800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196427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136708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216753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70846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180456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796358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486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1345776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902594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406301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2739091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25931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s-ES" spc="-25" smtClean="0"/>
              <a:t>‹Nº›</a:t>
            </a:fld>
            <a:endParaRPr lang="es-ES" spc="-25" dirty="0"/>
          </a:p>
        </p:txBody>
      </p:sp>
    </p:spTree>
    <p:extLst>
      <p:ext uri="{BB962C8B-B14F-4D97-AF65-F5344CB8AC3E}">
        <p14:creationId xmlns:p14="http://schemas.microsoft.com/office/powerpoint/2010/main" val="338752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9E7FD-811B-404B-99E0-C5322B5F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09" y="2907532"/>
            <a:ext cx="6108101" cy="1029803"/>
          </a:xfrm>
        </p:spPr>
        <p:txBody>
          <a:bodyPr/>
          <a:lstStyle/>
          <a:p>
            <a:r>
              <a:rPr lang="es-ES" sz="2700" dirty="0"/>
              <a:t>Programación con </a:t>
            </a:r>
            <a:r>
              <a:rPr lang="es-ES" sz="2700" dirty="0" err="1"/>
              <a:t>arrays</a:t>
            </a:r>
            <a:r>
              <a:rPr lang="es-ES" sz="2700" dirty="0"/>
              <a:t>, funciones y objetos definidos por el usuario</a:t>
            </a:r>
          </a:p>
        </p:txBody>
      </p:sp>
    </p:spTree>
    <p:extLst>
      <p:ext uri="{BB962C8B-B14F-4D97-AF65-F5344CB8AC3E}">
        <p14:creationId xmlns:p14="http://schemas.microsoft.com/office/powerpoint/2010/main" val="17243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77465"/>
            <a:ext cx="805180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0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JavaScript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cuenta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serie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funciones </a:t>
            </a:r>
            <a:r>
              <a:rPr sz="2800" dirty="0">
                <a:latin typeface="Arial"/>
                <a:cs typeface="Arial"/>
              </a:rPr>
              <a:t>integradas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lenguaje.</a:t>
            </a:r>
            <a:endParaRPr sz="2800" dirty="0">
              <a:latin typeface="Arial"/>
              <a:cs typeface="Arial"/>
            </a:endParaRPr>
          </a:p>
          <a:p>
            <a:pPr marL="355600" marR="17145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Dichas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pueden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utilizar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conocer </a:t>
            </a:r>
            <a:r>
              <a:rPr sz="2800" dirty="0">
                <a:latin typeface="Arial"/>
                <a:cs typeface="Arial"/>
              </a:rPr>
              <a:t>todas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instrucciones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ejecuta.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Simplemente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debe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conocer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nombre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 </a:t>
            </a:r>
            <a:r>
              <a:rPr sz="2800" dirty="0">
                <a:latin typeface="Arial"/>
                <a:cs typeface="Arial"/>
              </a:rPr>
              <a:t>función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resultado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obtiene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utilizarla.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97760"/>
            <a:ext cx="75107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siguientes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algunas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principales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predefinidas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JavaScript: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821246"/>
              </p:ext>
            </p:extLst>
          </p:nvPr>
        </p:nvGraphicFramePr>
        <p:xfrm>
          <a:off x="2765425" y="3710305"/>
          <a:ext cx="353822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9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Funciones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Predefinidas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escape()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Number()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eval()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String()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isFinite()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parseInt()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isNaN()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parseFloat()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54910"/>
            <a:ext cx="7968615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escape()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recibe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cadena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caracteres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devuelve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misma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cadena </a:t>
            </a:r>
            <a:r>
              <a:rPr sz="2800" dirty="0">
                <a:latin typeface="Arial"/>
                <a:cs typeface="Arial"/>
              </a:rPr>
              <a:t>sustituida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codificación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ASCII.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4317365"/>
            <a:ext cx="67214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 marR="508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prompt(“Introduce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una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cadena”); 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inputCodificado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escape(input); </a:t>
            </a:r>
            <a:r>
              <a:rPr sz="1800" dirty="0">
                <a:latin typeface="Courier New"/>
                <a:cs typeface="Courier New"/>
              </a:rPr>
              <a:t>alert(“Cadena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codificada: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inputCodificado);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07310"/>
            <a:ext cx="7482205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eval()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convierte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cadena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pasamos </a:t>
            </a:r>
            <a:r>
              <a:rPr sz="2800" dirty="0">
                <a:latin typeface="Arial"/>
                <a:cs typeface="Arial"/>
              </a:rPr>
              <a:t>como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código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JavaScript ejecutable.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406" y="4545965"/>
            <a:ext cx="79489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>
              <a:latin typeface="Courier New"/>
              <a:cs typeface="Courier New"/>
            </a:endParaRPr>
          </a:p>
          <a:p>
            <a:pPr marL="285115" marR="14033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prompt(“Introduce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una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operación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numérica”);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resultado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eval(input);</a:t>
            </a:r>
            <a:endParaRPr sz="18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alert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(“El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resultado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la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operación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es: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resultado);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07310"/>
            <a:ext cx="7650480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isFinite()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verifica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número</a:t>
            </a:r>
            <a:r>
              <a:rPr sz="2800" spc="-25" dirty="0">
                <a:latin typeface="Arial"/>
                <a:cs typeface="Arial"/>
              </a:rPr>
              <a:t> que </a:t>
            </a:r>
            <a:r>
              <a:rPr sz="2800" dirty="0">
                <a:latin typeface="Arial"/>
                <a:cs typeface="Arial"/>
              </a:rPr>
              <a:t>pasamos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número finito.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406" y="4698365"/>
            <a:ext cx="767270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if(isFinite(argumento))</a:t>
            </a:r>
            <a:r>
              <a:rPr sz="1800" spc="-24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//instrucciones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si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el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argumento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número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finito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}else{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//instrucciones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si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el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argumento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no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número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finito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5831"/>
            <a:ext cx="7673975" cy="9283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58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isNan()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comprueba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valor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pasamos </a:t>
            </a:r>
            <a:r>
              <a:rPr sz="2800" dirty="0">
                <a:latin typeface="Arial"/>
                <a:cs typeface="Arial"/>
              </a:rPr>
              <a:t>como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tipo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numérico.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406" y="3799205"/>
            <a:ext cx="739965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 marR="508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prompt(“Introduce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valor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numérico: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“); </a:t>
            </a:r>
            <a:r>
              <a:rPr sz="1800" dirty="0">
                <a:latin typeface="Courier New"/>
                <a:cs typeface="Courier New"/>
              </a:rPr>
              <a:t>if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(isNaN(input)){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alert(“El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dato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ingresado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no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numérico.”);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}else{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alert(“El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dato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ingresado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numérico.”);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31110"/>
            <a:ext cx="7397115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 algn="just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String()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convierte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objeto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pasado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como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cadena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represente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 </a:t>
            </a:r>
            <a:r>
              <a:rPr sz="2800" dirty="0">
                <a:latin typeface="Arial"/>
                <a:cs typeface="Arial"/>
              </a:rPr>
              <a:t>valor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dicho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objeto.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4926965"/>
            <a:ext cx="60369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1777364" indent="-2730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fecha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Date()</a:t>
            </a:r>
            <a:endParaRPr sz="18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fechaString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String(fecha)</a:t>
            </a:r>
            <a:endParaRPr sz="18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alert(“La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fecha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actual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es: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“+fechaString);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07310"/>
            <a:ext cx="7392034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Number()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convierte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objeto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pasado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como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número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represente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 </a:t>
            </a:r>
            <a:r>
              <a:rPr sz="2800" dirty="0">
                <a:latin typeface="Arial"/>
                <a:cs typeface="Arial"/>
              </a:rPr>
              <a:t>valor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dicho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objeto.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39666"/>
            <a:ext cx="8015605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parseInt()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convierte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cadena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pasamos </a:t>
            </a:r>
            <a:r>
              <a:rPr sz="2800" dirty="0">
                <a:latin typeface="Arial"/>
                <a:cs typeface="Arial"/>
              </a:rPr>
              <a:t>como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valor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numérico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tipo </a:t>
            </a:r>
            <a:r>
              <a:rPr sz="2800" spc="-10" dirty="0">
                <a:latin typeface="Arial"/>
                <a:cs typeface="Arial"/>
              </a:rPr>
              <a:t>entero.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4545965"/>
            <a:ext cx="61760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>
              <a:latin typeface="Courier New"/>
              <a:cs typeface="Courier New"/>
            </a:endParaRPr>
          </a:p>
          <a:p>
            <a:pPr marL="285115" marR="508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prompt(“Introduce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valor: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“);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inputParsed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parseInt(input); </a:t>
            </a:r>
            <a:r>
              <a:rPr sz="1800" dirty="0">
                <a:latin typeface="Courier New"/>
                <a:cs typeface="Courier New"/>
              </a:rPr>
              <a:t>alert(“parseInt(“+input+”):</a:t>
            </a:r>
            <a:r>
              <a:rPr sz="1800" spc="-2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“+inputParsed);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predefinidas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lenguaje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63466"/>
            <a:ext cx="8007350" cy="135509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Courier New"/>
                <a:cs typeface="Courier New"/>
              </a:rPr>
              <a:t>parseFloat()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convierte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cadena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que </a:t>
            </a:r>
            <a:r>
              <a:rPr sz="2800" dirty="0">
                <a:latin typeface="Arial"/>
                <a:cs typeface="Arial"/>
              </a:rPr>
              <a:t>pasamos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argumento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valor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numérico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tipo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flotante.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4469765"/>
            <a:ext cx="67214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 marR="55562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prompt(“Introduce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valor: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“);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inputParsed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parseFloat(input);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alert(“parseFloat(“+input+”):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inputParsed);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62225"/>
            <a:ext cx="7432675" cy="360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posible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personalizadas </a:t>
            </a:r>
            <a:r>
              <a:rPr sz="2800" dirty="0">
                <a:latin typeface="Arial"/>
                <a:cs typeface="Arial"/>
              </a:rPr>
              <a:t>diferentes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predefinidas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por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 </a:t>
            </a:r>
            <a:r>
              <a:rPr sz="2800" spc="-10" dirty="0">
                <a:latin typeface="Arial"/>
                <a:cs typeface="Arial"/>
              </a:rPr>
              <a:t>lenguaje.</a:t>
            </a:r>
            <a:endParaRPr sz="2800" dirty="0">
              <a:latin typeface="Arial"/>
              <a:cs typeface="Arial"/>
            </a:endParaRPr>
          </a:p>
          <a:p>
            <a:pPr marL="355600" marR="263525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estas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pueden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realizar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las </a:t>
            </a:r>
            <a:r>
              <a:rPr sz="2800" dirty="0">
                <a:latin typeface="Arial"/>
                <a:cs typeface="Arial"/>
              </a:rPr>
              <a:t>tareas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queramos.</a:t>
            </a:r>
            <a:endParaRPr sz="2800" dirty="0">
              <a:latin typeface="Arial"/>
              <a:cs typeface="Arial"/>
            </a:endParaRPr>
          </a:p>
          <a:p>
            <a:pPr marL="355600" marR="32131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Una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tarea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realiza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mediante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grupo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dirty="0">
                <a:latin typeface="Arial"/>
                <a:cs typeface="Arial"/>
              </a:rPr>
              <a:t>instrucciones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relacionadas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cuales </a:t>
            </a:r>
            <a:r>
              <a:rPr sz="2800" dirty="0">
                <a:latin typeface="Arial"/>
                <a:cs typeface="Arial"/>
              </a:rPr>
              <a:t>debemos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nombre.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41905"/>
            <a:ext cx="7835900" cy="38588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354965" algn="l"/>
              </a:tabLst>
            </a:pPr>
            <a:r>
              <a:rPr sz="2600" dirty="0">
                <a:latin typeface="Arial"/>
                <a:cs typeface="Arial"/>
              </a:rPr>
              <a:t>Definición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</a:t>
            </a:r>
            <a:r>
              <a:rPr sz="2600" spc="-10" dirty="0">
                <a:latin typeface="Arial"/>
                <a:cs typeface="Arial"/>
              </a:rPr>
              <a:t> funciones:</a:t>
            </a:r>
            <a:endParaRPr sz="2600" dirty="0">
              <a:latin typeface="Arial"/>
              <a:cs typeface="Arial"/>
            </a:endParaRPr>
          </a:p>
          <a:p>
            <a:pPr marL="756285" marR="96520" lvl="1" indent="-287020">
              <a:lnSpc>
                <a:spcPts val="2290"/>
              </a:lnSpc>
              <a:spcBef>
                <a:spcPts val="635"/>
              </a:spcBef>
              <a:buFont typeface="Courier New"/>
              <a:buChar char="o"/>
              <a:tabLst>
                <a:tab pos="756285" algn="l"/>
              </a:tabLst>
            </a:pPr>
            <a:r>
              <a:rPr sz="2200" dirty="0">
                <a:latin typeface="Arial"/>
                <a:cs typeface="Arial"/>
              </a:rPr>
              <a:t>El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mejor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lugar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para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definir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las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funciones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es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dentro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las </a:t>
            </a:r>
            <a:r>
              <a:rPr sz="2200" dirty="0">
                <a:latin typeface="Arial"/>
                <a:cs typeface="Arial"/>
              </a:rPr>
              <a:t>etiquetas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HTML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&lt;body&gt;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y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&lt;/body&gt;</a:t>
            </a:r>
            <a:r>
              <a:rPr sz="2200" spc="-10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756285" marR="5080" lvl="1" indent="-287020">
              <a:lnSpc>
                <a:spcPts val="2380"/>
              </a:lnSpc>
              <a:spcBef>
                <a:spcPts val="630"/>
              </a:spcBef>
              <a:buFont typeface="Courier New"/>
              <a:buChar char="o"/>
              <a:tabLst>
                <a:tab pos="756285" algn="l"/>
              </a:tabLst>
            </a:pPr>
            <a:r>
              <a:rPr sz="2200" dirty="0">
                <a:latin typeface="Arial"/>
                <a:cs typeface="Arial"/>
              </a:rPr>
              <a:t>El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motivo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es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que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el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navegador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carga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siempre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todo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que </a:t>
            </a:r>
            <a:r>
              <a:rPr sz="2200" dirty="0">
                <a:latin typeface="Arial"/>
                <a:cs typeface="Arial"/>
              </a:rPr>
              <a:t>se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encuentra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entre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estas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etiquetas.</a:t>
            </a:r>
            <a:endParaRPr sz="2200" dirty="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spcBef>
                <a:spcPts val="225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dirty="0">
                <a:latin typeface="Arial"/>
                <a:cs typeface="Arial"/>
              </a:rPr>
              <a:t>La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definición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una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función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consta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cinco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partes:</a:t>
            </a:r>
            <a:endParaRPr sz="22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1155700" algn="l"/>
              </a:tabLst>
            </a:pPr>
            <a:r>
              <a:rPr sz="1900" dirty="0">
                <a:latin typeface="Arial"/>
                <a:cs typeface="Arial"/>
              </a:rPr>
              <a:t>La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palabra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clave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function</a:t>
            </a:r>
            <a:r>
              <a:rPr sz="2200" spc="-10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Char char="•"/>
              <a:tabLst>
                <a:tab pos="1155700" algn="l"/>
              </a:tabLst>
            </a:pPr>
            <a:r>
              <a:rPr sz="1900" dirty="0">
                <a:latin typeface="Arial"/>
                <a:cs typeface="Arial"/>
              </a:rPr>
              <a:t>El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nombre de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la</a:t>
            </a:r>
            <a:r>
              <a:rPr sz="1900" spc="-2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función.</a:t>
            </a:r>
            <a:endParaRPr sz="19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29"/>
              </a:spcBef>
              <a:buChar char="•"/>
              <a:tabLst>
                <a:tab pos="1155700" algn="l"/>
              </a:tabLst>
            </a:pPr>
            <a:r>
              <a:rPr sz="1900" dirty="0">
                <a:latin typeface="Arial"/>
                <a:cs typeface="Arial"/>
              </a:rPr>
              <a:t>Los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argumentos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utilizados.</a:t>
            </a:r>
            <a:endParaRPr sz="19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25"/>
              </a:spcBef>
              <a:buChar char="•"/>
              <a:tabLst>
                <a:tab pos="1155700" algn="l"/>
              </a:tabLst>
            </a:pPr>
            <a:r>
              <a:rPr sz="1900" dirty="0">
                <a:latin typeface="Arial"/>
                <a:cs typeface="Arial"/>
              </a:rPr>
              <a:t>El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grupo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de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instrucciones.</a:t>
            </a:r>
            <a:endParaRPr sz="19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180"/>
              </a:spcBef>
              <a:buChar char="•"/>
              <a:tabLst>
                <a:tab pos="1155700" algn="l"/>
              </a:tabLst>
            </a:pPr>
            <a:r>
              <a:rPr sz="1900" dirty="0">
                <a:latin typeface="Arial"/>
                <a:cs typeface="Arial"/>
              </a:rPr>
              <a:t>La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palabra</a:t>
            </a:r>
            <a:r>
              <a:rPr sz="1900" spc="-2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clave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return</a:t>
            </a:r>
            <a:r>
              <a:rPr sz="2200" spc="-10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49220"/>
            <a:ext cx="7759065" cy="2837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Definición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Sintaxis: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800" dirty="0">
              <a:latin typeface="Arial"/>
              <a:cs typeface="Arial"/>
            </a:endParaRPr>
          </a:p>
          <a:p>
            <a:pPr marL="407034" marR="5080" indent="-394970">
              <a:lnSpc>
                <a:spcPct val="120000"/>
              </a:lnSpc>
              <a:spcBef>
                <a:spcPts val="5"/>
              </a:spcBef>
            </a:pPr>
            <a:r>
              <a:rPr sz="2600" dirty="0">
                <a:latin typeface="Courier New"/>
                <a:cs typeface="Courier New"/>
              </a:rPr>
              <a:t>function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nombre_función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([argumentos]){ grupo_de_instrucciones;</a:t>
            </a:r>
            <a:endParaRPr sz="2600" dirty="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  <a:spcBef>
                <a:spcPts val="620"/>
              </a:spcBef>
            </a:pPr>
            <a:r>
              <a:rPr sz="2600" dirty="0">
                <a:latin typeface="Courier New"/>
                <a:cs typeface="Courier New"/>
              </a:rPr>
              <a:t>[return</a:t>
            </a:r>
            <a:r>
              <a:rPr sz="2600" spc="-10" dirty="0">
                <a:latin typeface="Courier New"/>
                <a:cs typeface="Courier New"/>
              </a:rPr>
              <a:t> valor;]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spc="-50" dirty="0">
                <a:latin typeface="Courier New"/>
                <a:cs typeface="Courier New"/>
              </a:rPr>
              <a:t>}</a:t>
            </a:r>
            <a:endParaRPr sz="2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34260"/>
            <a:ext cx="7328534" cy="139954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Definición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Function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palabra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debe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utilizar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antes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de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definir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cualquier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función.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25065"/>
            <a:ext cx="7816215" cy="389953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Definición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Nombre:</a:t>
            </a:r>
            <a:endParaRPr sz="2800" dirty="0">
              <a:latin typeface="Arial"/>
              <a:cs typeface="Arial"/>
            </a:endParaRPr>
          </a:p>
          <a:p>
            <a:pPr marL="755015" marR="408305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El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nombre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función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sitúa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inicio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 	</a:t>
            </a:r>
            <a:r>
              <a:rPr sz="2400" dirty="0">
                <a:latin typeface="Arial"/>
                <a:cs typeface="Arial"/>
              </a:rPr>
              <a:t>definición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antes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paréntesis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contiene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los 	</a:t>
            </a:r>
            <a:r>
              <a:rPr sz="2400" dirty="0">
                <a:latin typeface="Arial"/>
                <a:cs typeface="Arial"/>
              </a:rPr>
              <a:t>posibles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argumentos.</a:t>
            </a:r>
            <a:endParaRPr sz="2400" dirty="0">
              <a:latin typeface="Arial"/>
              <a:cs typeface="Arial"/>
            </a:endParaRPr>
          </a:p>
          <a:p>
            <a:pPr marL="1155700" marR="902969" lvl="2" indent="-228600">
              <a:lnSpc>
                <a:spcPct val="100000"/>
              </a:lnSpc>
              <a:spcBef>
                <a:spcPts val="484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Deben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usarse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sólo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letras,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números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carácter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 </a:t>
            </a:r>
            <a:r>
              <a:rPr sz="2000" spc="-10" dirty="0">
                <a:latin typeface="Arial"/>
                <a:cs typeface="Arial"/>
              </a:rPr>
              <a:t>subrayado.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Debe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único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código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JavaScript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página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web.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No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pueden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empezar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número.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No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puede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palabras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clave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lenguaje.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No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puede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palabras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reservadas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 </a:t>
            </a:r>
            <a:r>
              <a:rPr sz="2000" spc="-10" dirty="0">
                <a:latin typeface="Arial"/>
                <a:cs typeface="Arial"/>
              </a:rPr>
              <a:t>lenguaje.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7915"/>
            <a:ext cx="7904480" cy="220408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Definición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Argumento: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Los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dentro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paréntesis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situado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después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nombre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función.</a:t>
            </a:r>
            <a:endParaRPr sz="2400" dirty="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No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todas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funciones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requieren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argumentos,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lo 	</a:t>
            </a:r>
            <a:r>
              <a:rPr sz="2400" dirty="0">
                <a:latin typeface="Arial"/>
                <a:cs typeface="Arial"/>
              </a:rPr>
              <a:t>cual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paréntesis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deja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vacío.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53970"/>
            <a:ext cx="7464425" cy="285623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55600" marR="1537970" indent="-342900">
              <a:lnSpc>
                <a:spcPts val="3170"/>
              </a:lnSpc>
              <a:spcBef>
                <a:spcPts val="359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Definición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Grupo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instrucciones:</a:t>
            </a:r>
            <a:endParaRPr sz="2800" dirty="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710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grupo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instrucciones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bloque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código 	</a:t>
            </a:r>
            <a:r>
              <a:rPr sz="2400" dirty="0">
                <a:latin typeface="Arial"/>
                <a:cs typeface="Arial"/>
              </a:rPr>
              <a:t>JavaScript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ejecuta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cuando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invocamos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 	</a:t>
            </a:r>
            <a:r>
              <a:rPr sz="2400" dirty="0">
                <a:latin typeface="Arial"/>
                <a:cs typeface="Arial"/>
              </a:rPr>
              <a:t>función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desde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otra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aplicación.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09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llaves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Courier New"/>
                <a:cs typeface="Courier New"/>
              </a:rPr>
              <a:t>{}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delimitan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inicio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las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170"/>
              </a:spcBef>
            </a:pPr>
            <a:r>
              <a:rPr sz="2400" spc="-10" dirty="0">
                <a:latin typeface="Arial"/>
                <a:cs typeface="Arial"/>
              </a:rPr>
              <a:t>instrucciones.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68880"/>
            <a:ext cx="8030845" cy="21793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Definición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funciones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Return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1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palabra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Courier New"/>
                <a:cs typeface="Courier New"/>
              </a:rPr>
              <a:t>return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opcional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definición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función.</a:t>
            </a:r>
            <a:endParaRPr sz="2400" dirty="0">
              <a:latin typeface="Arial"/>
              <a:cs typeface="Arial"/>
            </a:endParaRPr>
          </a:p>
          <a:p>
            <a:pPr marL="755015" marR="959485" lvl="1" indent="-28575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Indica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navegador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devuelva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 	</a:t>
            </a:r>
            <a:r>
              <a:rPr sz="2400" dirty="0">
                <a:latin typeface="Arial"/>
                <a:cs typeface="Arial"/>
              </a:rPr>
              <a:t>sentencia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invocado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función.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56815"/>
            <a:ext cx="7867650" cy="3715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Ejemplo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Función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calcula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importe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un </a:t>
            </a:r>
            <a:r>
              <a:rPr sz="2800" dirty="0">
                <a:latin typeface="Arial"/>
                <a:cs typeface="Arial"/>
              </a:rPr>
              <a:t>producto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después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haberle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aplicado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IVA: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800" dirty="0">
              <a:latin typeface="Arial"/>
              <a:cs typeface="Arial"/>
            </a:endParaRPr>
          </a:p>
          <a:p>
            <a:pPr marL="347345" marR="443865" indent="-335280">
              <a:lnSpc>
                <a:spcPct val="120000"/>
              </a:lnSpc>
            </a:pPr>
            <a:r>
              <a:rPr sz="2200" dirty="0">
                <a:latin typeface="Courier New"/>
                <a:cs typeface="Courier New"/>
              </a:rPr>
              <a:t>function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aplicar_IVA(valorProducto,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IVA){ </a:t>
            </a:r>
            <a:r>
              <a:rPr sz="2200" dirty="0">
                <a:latin typeface="Courier New"/>
                <a:cs typeface="Courier New"/>
              </a:rPr>
              <a:t>var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productoConIVA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valorProducto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*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IVA; </a:t>
            </a:r>
            <a:r>
              <a:rPr sz="2200" dirty="0">
                <a:latin typeface="Courier New"/>
                <a:cs typeface="Courier New"/>
              </a:rPr>
              <a:t>alert(“El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precio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del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producto,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apicando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el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25" dirty="0">
                <a:latin typeface="Courier New"/>
                <a:cs typeface="Courier New"/>
              </a:rPr>
              <a:t>IVA</a:t>
            </a:r>
            <a:endParaRPr sz="2200" dirty="0">
              <a:latin typeface="Courier New"/>
              <a:cs typeface="Courier New"/>
            </a:endParaRPr>
          </a:p>
          <a:p>
            <a:pPr marL="347345">
              <a:lnSpc>
                <a:spcPct val="100000"/>
              </a:lnSpc>
              <a:spcBef>
                <a:spcPts val="530"/>
              </a:spcBef>
              <a:tabLst>
                <a:tab pos="1188085" algn="l"/>
              </a:tabLst>
            </a:pPr>
            <a:r>
              <a:rPr sz="2200" spc="-25" dirty="0">
                <a:latin typeface="Courier New"/>
                <a:cs typeface="Courier New"/>
              </a:rPr>
              <a:t>del</a:t>
            </a:r>
            <a:r>
              <a:rPr sz="2200" dirty="0">
                <a:latin typeface="Courier New"/>
                <a:cs typeface="Courier New"/>
              </a:rPr>
              <a:t>	“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IVA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“</a:t>
            </a:r>
            <a:r>
              <a:rPr sz="2200" spc="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es:</a:t>
            </a:r>
            <a:r>
              <a:rPr sz="2200" spc="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“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10" dirty="0">
                <a:latin typeface="Courier New"/>
                <a:cs typeface="Courier New"/>
              </a:rPr>
              <a:t> productoConIVA);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53640"/>
            <a:ext cx="7941309" cy="295656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Invocación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funciones:</a:t>
            </a:r>
            <a:endParaRPr sz="2800" dirty="0">
              <a:latin typeface="Arial"/>
              <a:cs typeface="Arial"/>
            </a:endParaRPr>
          </a:p>
          <a:p>
            <a:pPr marL="755015" marR="549910" lvl="1" indent="-28575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Una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vez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definida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función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necesaria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llamarla 	</a:t>
            </a:r>
            <a:r>
              <a:rPr sz="2400" dirty="0">
                <a:latin typeface="Arial"/>
                <a:cs typeface="Arial"/>
              </a:rPr>
              <a:t>para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navegador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ejecute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grupo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 	</a:t>
            </a:r>
            <a:r>
              <a:rPr sz="2400" spc="-10" dirty="0">
                <a:latin typeface="Arial"/>
                <a:cs typeface="Arial"/>
              </a:rPr>
              <a:t>instrucciones.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Se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invoca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usando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nombre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seguido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paréntesis.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Si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tiene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argumentos,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deben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especificar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el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mismo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definido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función.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91080"/>
            <a:ext cx="6634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Ejemplo: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Courier New"/>
                <a:cs typeface="Courier New"/>
              </a:rPr>
              <a:t>aplicar_IVA(300,</a:t>
            </a:r>
            <a:r>
              <a:rPr sz="2800" spc="-16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1.18)</a:t>
            </a:r>
            <a:r>
              <a:rPr sz="2800" spc="-1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59558"/>
            <a:ext cx="5112511" cy="34174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7280"/>
            <a:ext cx="6407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Invocar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función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desde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JavaScript: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370" y="3235325"/>
            <a:ext cx="699389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&lt;html&gt;&lt;head&gt;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&lt;title&gt;Invocar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función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desde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JavaScript&lt;/title&gt;</a:t>
            </a:r>
            <a:endParaRPr sz="1800" dirty="0">
              <a:latin typeface="Courier New"/>
              <a:cs typeface="Courier New"/>
            </a:endParaRPr>
          </a:p>
          <a:p>
            <a:pPr marL="830580" marR="218821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 </a:t>
            </a:r>
            <a:r>
              <a:rPr sz="1800" dirty="0">
                <a:latin typeface="Courier New"/>
                <a:cs typeface="Courier New"/>
              </a:rPr>
              <a:t>function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mi_funcion([args]){</a:t>
            </a:r>
            <a:endParaRPr sz="1800" dirty="0">
              <a:latin typeface="Courier New"/>
              <a:cs typeface="Courier New"/>
            </a:endParaRPr>
          </a:p>
          <a:p>
            <a:pPr marL="110363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//instrucciones</a:t>
            </a:r>
            <a:endParaRPr sz="1800" dirty="0">
              <a:latin typeface="Courier New"/>
              <a:cs typeface="Courier New"/>
            </a:endParaRPr>
          </a:p>
          <a:p>
            <a:pPr marL="830580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&lt;/script&gt;&lt;/head&gt;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&lt;body&gt;</a:t>
            </a:r>
            <a:endParaRPr sz="1800" dirty="0">
              <a:latin typeface="Courier New"/>
              <a:cs typeface="Courier New"/>
            </a:endParaRPr>
          </a:p>
          <a:p>
            <a:pPr marL="830580" marR="218821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 mi_funcion([args]);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urier New"/>
                <a:cs typeface="Courier New"/>
              </a:rPr>
              <a:t>&lt;/body&gt;&lt;/html&gt;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105"/>
              </a:spcBef>
            </a:pPr>
            <a:r>
              <a:rPr dirty="0"/>
              <a:t>Funciones</a:t>
            </a:r>
            <a:r>
              <a:rPr spc="-8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7280"/>
            <a:ext cx="5710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Invocar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función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desde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HTML: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370" y="3357245"/>
            <a:ext cx="699389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&lt;html&gt;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&lt;head&gt;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&lt;title&gt;Invocar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función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desde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JavaScript&lt;/title&gt;</a:t>
            </a:r>
            <a:endParaRPr sz="1800" dirty="0">
              <a:latin typeface="Courier New"/>
              <a:cs typeface="Courier New"/>
            </a:endParaRPr>
          </a:p>
          <a:p>
            <a:pPr marL="830580" marR="218821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 </a:t>
            </a:r>
            <a:r>
              <a:rPr sz="1800" dirty="0">
                <a:latin typeface="Courier New"/>
                <a:cs typeface="Courier New"/>
              </a:rPr>
              <a:t>function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mi_funcion([args]){</a:t>
            </a:r>
            <a:endParaRPr sz="1800" dirty="0">
              <a:latin typeface="Courier New"/>
              <a:cs typeface="Courier New"/>
            </a:endParaRPr>
          </a:p>
          <a:p>
            <a:pPr marL="110363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//instrucciones</a:t>
            </a:r>
            <a:endParaRPr sz="1800" dirty="0">
              <a:latin typeface="Courier New"/>
              <a:cs typeface="Courier New"/>
            </a:endParaRPr>
          </a:p>
          <a:p>
            <a:pPr marL="830580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&lt;/head&gt;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&lt;body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onload=“mi_funcion([args])”&gt;&lt;/body&gt;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&lt;/html&gt;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44395"/>
            <a:ext cx="7867015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242695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mayor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aplicaciones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web </a:t>
            </a:r>
            <a:r>
              <a:rPr sz="2800" dirty="0">
                <a:latin typeface="Arial"/>
                <a:cs typeface="Arial"/>
              </a:rPr>
              <a:t>gestionan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número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elevado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datos.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Por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ejemplos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quisiera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definir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nombre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dirty="0">
                <a:latin typeface="Arial"/>
                <a:cs typeface="Arial"/>
              </a:rPr>
              <a:t>180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productos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alimenticios: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4766"/>
              </p:ext>
            </p:extLst>
          </p:nvPr>
        </p:nvGraphicFramePr>
        <p:xfrm>
          <a:off x="455320" y="4162425"/>
          <a:ext cx="3752850" cy="162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065">
                <a:tc>
                  <a:txBody>
                    <a:bodyPr/>
                    <a:lstStyle/>
                    <a:p>
                      <a:pPr marR="26670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var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producto1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“Pan”;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6670" algn="ctr">
                        <a:lnSpc>
                          <a:spcPts val="192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var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producto2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“Agua”;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6670" algn="ctr">
                        <a:lnSpc>
                          <a:spcPts val="192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var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producto3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“Lentejas”;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6670" algn="ctr">
                        <a:lnSpc>
                          <a:spcPts val="192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var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producto4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“Naranjas”;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R="26670" algn="ctr">
                        <a:lnSpc>
                          <a:spcPts val="192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var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producto5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“Cereales”;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R="26670" algn="ctr">
                        <a:lnSpc>
                          <a:spcPts val="192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74370" y="5948680"/>
            <a:ext cx="4945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producto180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“Salsa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agridulce”;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97760"/>
            <a:ext cx="79622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Si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posteriormente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quisiera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mostrar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nombre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estos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productos: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370" y="4225925"/>
            <a:ext cx="385381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6225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document.write(producto1); document.write(producto2); document.write(producto3); document.write(producto4); document.write(producto5);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Courier New"/>
                <a:cs typeface="Courier New"/>
              </a:rPr>
              <a:t>...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document.write(producto180);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67610"/>
            <a:ext cx="7835900" cy="37807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marR="5080" indent="-342900">
              <a:lnSpc>
                <a:spcPts val="3030"/>
              </a:lnSpc>
              <a:spcBef>
                <a:spcPts val="47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El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anterior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ejemplo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correcto,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pero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sería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una </a:t>
            </a:r>
            <a:r>
              <a:rPr sz="2800" dirty="0">
                <a:latin typeface="Arial"/>
                <a:cs typeface="Arial"/>
              </a:rPr>
              <a:t>tarea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compleja,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repetitiva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propensa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errores.</a:t>
            </a:r>
            <a:endParaRPr sz="2800" dirty="0">
              <a:latin typeface="Arial"/>
              <a:cs typeface="Arial"/>
            </a:endParaRPr>
          </a:p>
          <a:p>
            <a:pPr marL="355600" marR="922655" indent="-342900">
              <a:lnSpc>
                <a:spcPts val="302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Para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gestionar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este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tipo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escenarios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se </a:t>
            </a:r>
            <a:r>
              <a:rPr sz="2800" dirty="0">
                <a:latin typeface="Arial"/>
                <a:cs typeface="Arial"/>
              </a:rPr>
              <a:t>pueden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utilizar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arrays.</a:t>
            </a:r>
            <a:endParaRPr sz="2800" dirty="0">
              <a:latin typeface="Arial"/>
              <a:cs typeface="Arial"/>
            </a:endParaRPr>
          </a:p>
          <a:p>
            <a:pPr marL="355600" marR="348615" indent="-342900">
              <a:lnSpc>
                <a:spcPts val="303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Un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conjunto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ordenado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valores relacionados.</a:t>
            </a:r>
            <a:endParaRPr sz="2800" dirty="0">
              <a:latin typeface="Arial"/>
              <a:cs typeface="Arial"/>
            </a:endParaRPr>
          </a:p>
          <a:p>
            <a:pPr marL="355600" marR="191770" indent="-342900">
              <a:lnSpc>
                <a:spcPts val="302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Cada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estos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valores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denomina </a:t>
            </a:r>
            <a:r>
              <a:rPr sz="2800" dirty="0">
                <a:latin typeface="Arial"/>
                <a:cs typeface="Arial"/>
              </a:rPr>
              <a:t>elemento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cada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elemento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tiene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índice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que </a:t>
            </a:r>
            <a:r>
              <a:rPr sz="2800" dirty="0">
                <a:latin typeface="Arial"/>
                <a:cs typeface="Arial"/>
              </a:rPr>
              <a:t>indica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posición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numérica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array.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43150"/>
            <a:ext cx="7564120" cy="39814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Declaración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arrays: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igual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ocurre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necesario</a:t>
            </a:r>
            <a:endParaRPr sz="24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declarar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antes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poder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usarlo.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declaración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partes:</a:t>
            </a:r>
            <a:endParaRPr sz="24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355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La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palabra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clave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var</a:t>
            </a:r>
            <a:r>
              <a:rPr sz="2000" spc="-2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61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El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nombre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array.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El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operador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asignación.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35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La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palabra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clave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creación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objetos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new</a:t>
            </a:r>
            <a:r>
              <a:rPr sz="2000" spc="-2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El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constructor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Array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615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El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paréntesis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final.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42846"/>
            <a:ext cx="6873875" cy="3424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Declaración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Sintaxis: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625" dirty="0">
                <a:latin typeface="Courier New"/>
                <a:cs typeface="Courier New"/>
              </a:rPr>
              <a:t> </a:t>
            </a:r>
            <a:r>
              <a:rPr sz="2400" i="1" spc="-20" dirty="0">
                <a:latin typeface="Arial"/>
                <a:cs typeface="Arial"/>
              </a:rPr>
              <a:t>(1)</a:t>
            </a:r>
            <a:r>
              <a:rPr sz="2400" spc="-2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ourier New"/>
                <a:cs typeface="Courier New"/>
              </a:rPr>
              <a:t>var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nombre_del_array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new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Array();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4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625" dirty="0">
                <a:latin typeface="Courier New"/>
                <a:cs typeface="Courier New"/>
              </a:rPr>
              <a:t> </a:t>
            </a:r>
            <a:r>
              <a:rPr sz="2400" i="1" spc="-20" dirty="0">
                <a:latin typeface="Arial"/>
                <a:cs typeface="Arial"/>
              </a:rPr>
              <a:t>(2)</a:t>
            </a:r>
            <a:r>
              <a:rPr sz="2400" spc="-2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469900" marR="1461135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ourier New"/>
                <a:cs typeface="Courier New"/>
              </a:rPr>
              <a:t>var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nombre_del_array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new </a:t>
            </a:r>
            <a:r>
              <a:rPr sz="2400" spc="-10" dirty="0">
                <a:latin typeface="Courier New"/>
                <a:cs typeface="Courier New"/>
              </a:rPr>
              <a:t>Array(número_de_elementos);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6010"/>
            <a:ext cx="7817484" cy="29679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Inicialización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arrays:</a:t>
            </a:r>
            <a:endParaRPr sz="2800" dirty="0">
              <a:latin typeface="Arial"/>
              <a:cs typeface="Arial"/>
            </a:endParaRPr>
          </a:p>
          <a:p>
            <a:pPr marL="755015" marR="324485" lvl="1" indent="-28575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Una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vez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declarado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puede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comenzar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el 	</a:t>
            </a:r>
            <a:r>
              <a:rPr sz="2400" dirty="0">
                <a:latin typeface="Arial"/>
                <a:cs typeface="Arial"/>
              </a:rPr>
              <a:t>proceso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inicializar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los 	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contendrá.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sintaxis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siguiente: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nombre_del_array[índice]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valor_del_elemento;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09520"/>
            <a:ext cx="7954009" cy="259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posible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declarar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inicializar simultáneamente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mediante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escritura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los </a:t>
            </a:r>
            <a:r>
              <a:rPr sz="2800" dirty="0">
                <a:latin typeface="Arial"/>
                <a:cs typeface="Arial"/>
              </a:rPr>
              <a:t>elementos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dentro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del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paréntesis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del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constructor.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800" dirty="0">
              <a:latin typeface="Arial"/>
              <a:cs typeface="Arial"/>
            </a:endParaRPr>
          </a:p>
          <a:p>
            <a:pPr marL="12700" marR="190500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var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productos_alimenticios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new </a:t>
            </a:r>
            <a:r>
              <a:rPr sz="2400" dirty="0">
                <a:latin typeface="Courier New"/>
                <a:cs typeface="Courier New"/>
              </a:rPr>
              <a:t>Array(„Pan‟,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„Agua‟,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„Lentejas‟);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0296"/>
            <a:ext cx="7985759" cy="373570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Uso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mediante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bucles:</a:t>
            </a:r>
            <a:endParaRPr sz="2800" dirty="0">
              <a:latin typeface="Arial"/>
              <a:cs typeface="Arial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Si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mezclan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características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bucles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	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pueden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apreciar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ventajas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que 	</a:t>
            </a:r>
            <a:r>
              <a:rPr sz="2400" dirty="0">
                <a:latin typeface="Arial"/>
                <a:cs typeface="Arial"/>
              </a:rPr>
              <a:t>proporciona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objeto.</a:t>
            </a:r>
            <a:endParaRPr sz="2400" dirty="0">
              <a:latin typeface="Arial"/>
              <a:cs typeface="Arial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Por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ejemplo: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dirty="0">
                <a:latin typeface="Courier New"/>
                <a:cs typeface="Courier New"/>
              </a:rPr>
              <a:t>var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codigos_productos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new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Array();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(var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i=0;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i&lt;10;i++){</a:t>
            </a:r>
            <a:endParaRPr sz="2200" dirty="0">
              <a:latin typeface="Courier New"/>
              <a:cs typeface="Courier New"/>
            </a:endParaRPr>
          </a:p>
          <a:p>
            <a:pPr marL="178435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Courier New"/>
                <a:cs typeface="Courier New"/>
              </a:rPr>
              <a:t>codigos_productos[i]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“Codigo_producto_”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i;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16810"/>
            <a:ext cx="7585709" cy="29933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Uso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mediante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bucles:</a:t>
            </a:r>
            <a:endParaRPr sz="2800" dirty="0">
              <a:latin typeface="Arial"/>
              <a:cs typeface="Arial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inicialización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bucle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funciona</a:t>
            </a:r>
            <a:endParaRPr sz="2400" dirty="0">
              <a:latin typeface="Arial"/>
              <a:cs typeface="Arial"/>
            </a:endParaRPr>
          </a:p>
          <a:p>
            <a:pPr marL="756285" algn="just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mejor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casos:</a:t>
            </a:r>
            <a:endParaRPr sz="2400" dirty="0">
              <a:latin typeface="Arial"/>
              <a:cs typeface="Arial"/>
            </a:endParaRPr>
          </a:p>
          <a:p>
            <a:pPr marL="1153795" marR="57150" lvl="2" indent="-226695" algn="just">
              <a:lnSpc>
                <a:spcPct val="100000"/>
              </a:lnSpc>
              <a:spcBef>
                <a:spcPts val="484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Cuando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valores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elementos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pueden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generar 	</a:t>
            </a:r>
            <a:r>
              <a:rPr sz="2000" dirty="0">
                <a:latin typeface="Arial"/>
                <a:cs typeface="Arial"/>
              </a:rPr>
              <a:t>usando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expresión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cambia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cada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iteración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del 	</a:t>
            </a:r>
            <a:r>
              <a:rPr sz="2000" spc="-10" dirty="0">
                <a:latin typeface="Arial"/>
                <a:cs typeface="Arial"/>
              </a:rPr>
              <a:t>bucle.</a:t>
            </a:r>
            <a:endParaRPr sz="2000" dirty="0">
              <a:latin typeface="Arial"/>
              <a:cs typeface="Arial"/>
            </a:endParaRPr>
          </a:p>
          <a:p>
            <a:pPr marL="1153795" marR="273050" lvl="2" indent="-22669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Cuando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necesita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asignar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mismo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todos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los 	</a:t>
            </a:r>
            <a:r>
              <a:rPr sz="2000" dirty="0">
                <a:latin typeface="Arial"/>
                <a:cs typeface="Arial"/>
              </a:rPr>
              <a:t>elementos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array.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2200"/>
            <a:ext cx="7828915" cy="2465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Mediante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bucle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pueden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escribir </a:t>
            </a:r>
            <a:r>
              <a:rPr sz="2800" dirty="0">
                <a:latin typeface="Arial"/>
                <a:cs typeface="Arial"/>
              </a:rPr>
              <a:t>instrucciones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mucho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más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limpias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eficientes:</a:t>
            </a:r>
            <a:endParaRPr sz="2800" dirty="0">
              <a:latin typeface="Arial"/>
              <a:cs typeface="Arial"/>
            </a:endParaRPr>
          </a:p>
          <a:p>
            <a:pPr marL="178435" marR="2261235" indent="-166370">
              <a:lnSpc>
                <a:spcPts val="3170"/>
              </a:lnSpc>
              <a:spcBef>
                <a:spcPts val="15"/>
              </a:spcBef>
            </a:pP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(var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i=0;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i&lt;10;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i++){ document.write </a:t>
            </a:r>
            <a:r>
              <a:rPr sz="2200" dirty="0">
                <a:latin typeface="Courier New"/>
                <a:cs typeface="Courier New"/>
              </a:rPr>
              <a:t>(codigos_productos[i]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+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“&lt;br&gt;“);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200" spc="-50" dirty="0">
                <a:latin typeface="Courier New"/>
                <a:cs typeface="Courier New"/>
              </a:rPr>
              <a:t>}</a:t>
            </a:r>
            <a:endParaRPr sz="22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4303" y="3342386"/>
            <a:ext cx="2376297" cy="31346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33296"/>
            <a:ext cx="7718425" cy="401510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Propiedades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arrays: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tiene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propiedades:</a:t>
            </a:r>
            <a:endParaRPr sz="2400" dirty="0">
              <a:latin typeface="Arial"/>
              <a:cs typeface="Arial"/>
            </a:endParaRPr>
          </a:p>
          <a:p>
            <a:pPr marL="1384300" lvl="2" indent="-45720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1384300" algn="l"/>
              </a:tabLst>
            </a:pPr>
            <a:r>
              <a:rPr sz="2000" spc="-10" dirty="0">
                <a:latin typeface="Arial"/>
                <a:cs typeface="Arial"/>
              </a:rPr>
              <a:t>lenght: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100" dirty="0">
                <a:latin typeface="Courier New"/>
                <a:cs typeface="Courier New"/>
              </a:rPr>
              <a:t>for</a:t>
            </a:r>
            <a:r>
              <a:rPr sz="2100" spc="-85" dirty="0">
                <a:latin typeface="Courier New"/>
                <a:cs typeface="Courier New"/>
              </a:rPr>
              <a:t> </a:t>
            </a:r>
            <a:r>
              <a:rPr sz="2100" dirty="0">
                <a:latin typeface="Courier New"/>
                <a:cs typeface="Courier New"/>
              </a:rPr>
              <a:t>(var</a:t>
            </a:r>
            <a:r>
              <a:rPr sz="2100" spc="-80" dirty="0">
                <a:latin typeface="Courier New"/>
                <a:cs typeface="Courier New"/>
              </a:rPr>
              <a:t> </a:t>
            </a:r>
            <a:r>
              <a:rPr sz="2100" dirty="0">
                <a:latin typeface="Courier New"/>
                <a:cs typeface="Courier New"/>
              </a:rPr>
              <a:t>i=0;</a:t>
            </a:r>
            <a:r>
              <a:rPr sz="2100" spc="-75" dirty="0">
                <a:latin typeface="Courier New"/>
                <a:cs typeface="Courier New"/>
              </a:rPr>
              <a:t> </a:t>
            </a:r>
            <a:r>
              <a:rPr sz="2100" spc="-10" dirty="0">
                <a:latin typeface="Courier New"/>
                <a:cs typeface="Courier New"/>
              </a:rPr>
              <a:t>i&lt;codigos_productos.length;</a:t>
            </a:r>
            <a:r>
              <a:rPr sz="2100" spc="-35" dirty="0">
                <a:latin typeface="Courier New"/>
                <a:cs typeface="Courier New"/>
              </a:rPr>
              <a:t> </a:t>
            </a:r>
            <a:r>
              <a:rPr sz="2100" spc="-10" dirty="0">
                <a:latin typeface="Courier New"/>
                <a:cs typeface="Courier New"/>
              </a:rPr>
              <a:t>i++){</a:t>
            </a:r>
            <a:endParaRPr sz="2100" dirty="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505"/>
              </a:spcBef>
            </a:pPr>
            <a:r>
              <a:rPr sz="2100" spc="-10" dirty="0">
                <a:latin typeface="Courier New"/>
                <a:cs typeface="Courier New"/>
              </a:rPr>
              <a:t>document.write(codigos_productos[i]</a:t>
            </a:r>
            <a:r>
              <a:rPr sz="2100" spc="-55" dirty="0">
                <a:latin typeface="Courier New"/>
                <a:cs typeface="Courier New"/>
              </a:rPr>
              <a:t> </a:t>
            </a:r>
            <a:r>
              <a:rPr sz="2100" dirty="0">
                <a:latin typeface="Courier New"/>
                <a:cs typeface="Courier New"/>
              </a:rPr>
              <a:t>+</a:t>
            </a:r>
            <a:r>
              <a:rPr sz="2100" spc="-100" dirty="0">
                <a:latin typeface="Courier New"/>
                <a:cs typeface="Courier New"/>
              </a:rPr>
              <a:t> </a:t>
            </a:r>
            <a:r>
              <a:rPr sz="2100" spc="-10" dirty="0">
                <a:latin typeface="Courier New"/>
                <a:cs typeface="Courier New"/>
              </a:rPr>
              <a:t>“&lt;br&gt;“);</a:t>
            </a:r>
            <a:endParaRPr sz="2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100" spc="-50" dirty="0">
                <a:latin typeface="Courier New"/>
                <a:cs typeface="Courier New"/>
              </a:rPr>
              <a:t>}</a:t>
            </a:r>
            <a:endParaRPr sz="21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39"/>
              </a:spcBef>
            </a:pPr>
            <a:endParaRPr sz="2100" dirty="0">
              <a:latin typeface="Courier New"/>
              <a:cs typeface="Courier New"/>
            </a:endParaRPr>
          </a:p>
          <a:p>
            <a:pPr marL="1362710" lvl="2" indent="-4572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362710" algn="l"/>
              </a:tabLst>
            </a:pPr>
            <a:r>
              <a:rPr sz="2000" spc="-10" dirty="0">
                <a:latin typeface="Arial"/>
                <a:cs typeface="Arial"/>
              </a:rPr>
              <a:t>prototype: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900" dirty="0">
                <a:latin typeface="Courier New"/>
                <a:cs typeface="Courier New"/>
              </a:rPr>
              <a:t>Array.prototype.nueva_propiedad</a:t>
            </a:r>
            <a:r>
              <a:rPr sz="1900" spc="-8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=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valor;</a:t>
            </a:r>
            <a:endParaRPr sz="1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900" dirty="0">
                <a:latin typeface="Courier New"/>
                <a:cs typeface="Courier New"/>
              </a:rPr>
              <a:t>Array.prototype.nuevo_metodo</a:t>
            </a:r>
            <a:r>
              <a:rPr sz="1900" spc="-8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=</a:t>
            </a:r>
            <a:r>
              <a:rPr sz="1900" spc="-2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nombre_de_la_funcion;</a:t>
            </a:r>
            <a:endParaRPr sz="19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38680"/>
            <a:ext cx="3971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arrays:</a:t>
            </a:r>
            <a:endParaRPr sz="2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343985"/>
              </p:ext>
            </p:extLst>
          </p:nvPr>
        </p:nvGraphicFramePr>
        <p:xfrm>
          <a:off x="3043047" y="3035935"/>
          <a:ext cx="3178810" cy="222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9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Métodos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push()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shift()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concat()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pop()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join()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slice()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reverse()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sort()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unshift()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splice()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28600" y="1981200"/>
            <a:ext cx="8305800" cy="485902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dirty="0"/>
              <a:t>Métodos</a:t>
            </a:r>
            <a:r>
              <a:rPr spc="-6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los</a:t>
            </a:r>
            <a:r>
              <a:rPr spc="-30" dirty="0"/>
              <a:t> </a:t>
            </a:r>
            <a:r>
              <a:rPr dirty="0"/>
              <a:t>arrays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>
                <a:latin typeface="Courier New"/>
                <a:cs typeface="Courier New"/>
              </a:rPr>
              <a:t>push()</a:t>
            </a:r>
            <a:r>
              <a:rPr spc="-10" dirty="0"/>
              <a:t>:</a:t>
            </a:r>
          </a:p>
          <a:p>
            <a:pPr marL="88900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89000" algn="l"/>
              </a:tabLst>
            </a:pPr>
            <a:r>
              <a:rPr sz="2400" dirty="0">
                <a:latin typeface="Arial"/>
                <a:cs typeface="Arial"/>
              </a:rPr>
              <a:t>Añade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nuevos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devuelve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</a:t>
            </a:r>
            <a:endParaRPr sz="2400" dirty="0">
              <a:latin typeface="Arial"/>
              <a:cs typeface="Arial"/>
            </a:endParaRPr>
          </a:p>
          <a:p>
            <a:pPr marL="889635">
              <a:lnSpc>
                <a:spcPct val="100000"/>
              </a:lnSpc>
            </a:pPr>
            <a:r>
              <a:rPr sz="2400" dirty="0"/>
              <a:t>nueva</a:t>
            </a:r>
            <a:r>
              <a:rPr sz="2400" spc="-85" dirty="0"/>
              <a:t> </a:t>
            </a:r>
            <a:r>
              <a:rPr sz="2400" dirty="0"/>
              <a:t>longitud</a:t>
            </a:r>
            <a:r>
              <a:rPr sz="2400" spc="-75" dirty="0"/>
              <a:t> </a:t>
            </a:r>
            <a:r>
              <a:rPr sz="2400" dirty="0"/>
              <a:t>del</a:t>
            </a:r>
            <a:r>
              <a:rPr sz="2400" spc="-75" dirty="0"/>
              <a:t> </a:t>
            </a:r>
            <a:r>
              <a:rPr sz="2400" spc="-10" dirty="0"/>
              <a:t>array.</a:t>
            </a:r>
            <a:endParaRPr sz="2400" dirty="0"/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508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pizzas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Array(“Carbonara”,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“Quattro_Stagioni”, “Diavola”);</a:t>
            </a:r>
            <a:endParaRPr sz="1800" dirty="0">
              <a:latin typeface="Courier New"/>
              <a:cs typeface="Courier New"/>
            </a:endParaRPr>
          </a:p>
          <a:p>
            <a:pPr marL="558165" marR="14224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nuevo_numero_de_pizzas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pizzas.push(“Margherita”, “Boscaiola”);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document.write(“Número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de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pizzas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disponibles:</a:t>
            </a:r>
            <a:r>
              <a:rPr sz="1800" spc="-1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nuevo_numero_de_pizzas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“&lt;br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/&gt;“);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document.write(pizzas);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33400" y="1981200"/>
            <a:ext cx="8077200" cy="485902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dirty="0"/>
              <a:t>Métodos</a:t>
            </a:r>
            <a:r>
              <a:rPr spc="-6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los</a:t>
            </a:r>
            <a:r>
              <a:rPr spc="-30" dirty="0"/>
              <a:t> </a:t>
            </a:r>
            <a:r>
              <a:rPr dirty="0"/>
              <a:t>arrays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>
                <a:latin typeface="Courier New"/>
                <a:cs typeface="Courier New"/>
              </a:rPr>
              <a:t>concat()</a:t>
            </a:r>
            <a:r>
              <a:rPr spc="-10" dirty="0"/>
              <a:t>:</a:t>
            </a:r>
          </a:p>
          <a:p>
            <a:pPr marL="88900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89000" algn="l"/>
              </a:tabLst>
            </a:pPr>
            <a:r>
              <a:rPr sz="2400" dirty="0">
                <a:latin typeface="Arial"/>
                <a:cs typeface="Arial"/>
              </a:rPr>
              <a:t>Selecciona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concatena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otros</a:t>
            </a:r>
            <a:endParaRPr sz="2400" dirty="0">
              <a:latin typeface="Arial"/>
              <a:cs typeface="Arial"/>
            </a:endParaRPr>
          </a:p>
          <a:p>
            <a:pPr marL="889635">
              <a:lnSpc>
                <a:spcPct val="100000"/>
              </a:lnSpc>
            </a:pPr>
            <a:r>
              <a:rPr sz="2400" dirty="0"/>
              <a:t>elementos</a:t>
            </a:r>
            <a:r>
              <a:rPr sz="2400" spc="-70" dirty="0"/>
              <a:t> </a:t>
            </a:r>
            <a:r>
              <a:rPr sz="2400" dirty="0"/>
              <a:t>en</a:t>
            </a:r>
            <a:r>
              <a:rPr sz="2400" spc="-70" dirty="0"/>
              <a:t> </a:t>
            </a:r>
            <a:r>
              <a:rPr sz="2400" dirty="0"/>
              <a:t>un</a:t>
            </a:r>
            <a:r>
              <a:rPr sz="2400" spc="-70" dirty="0"/>
              <a:t> </a:t>
            </a:r>
            <a:r>
              <a:rPr sz="2400" dirty="0"/>
              <a:t>nuevo</a:t>
            </a:r>
            <a:r>
              <a:rPr sz="2400" spc="-60" dirty="0"/>
              <a:t> </a:t>
            </a:r>
            <a:r>
              <a:rPr sz="2400" spc="-10" dirty="0"/>
              <a:t>array.</a:t>
            </a:r>
            <a:endParaRPr sz="2400" dirty="0"/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27813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equipos_a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Array(“Real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Madrid”,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“Barcelona”, “Valencia”);</a:t>
            </a:r>
            <a:endParaRPr sz="1800" dirty="0">
              <a:latin typeface="Courier New"/>
              <a:cs typeface="Courier New"/>
            </a:endParaRPr>
          </a:p>
          <a:p>
            <a:pPr marL="558165" marR="123698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equipos_b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Array(“Hércules”,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“Elche”, “Valladolid”);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equipos_copa_del_rey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equipos_a.concat(equipos_b);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document.write(“Equipos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que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juegan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la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copa: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equipos_copa_del_rey);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dirty="0"/>
              <a:t>Métodos</a:t>
            </a:r>
            <a:r>
              <a:rPr spc="-6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los</a:t>
            </a:r>
            <a:r>
              <a:rPr spc="-30" dirty="0"/>
              <a:t> </a:t>
            </a:r>
            <a:r>
              <a:rPr dirty="0"/>
              <a:t>arrays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>
                <a:latin typeface="Courier New"/>
                <a:cs typeface="Courier New"/>
              </a:rPr>
              <a:t>join()</a:t>
            </a:r>
            <a:r>
              <a:rPr spc="-10" dirty="0"/>
              <a:t>:</a:t>
            </a:r>
          </a:p>
          <a:p>
            <a:pPr marL="88900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89000" algn="l"/>
              </a:tabLst>
            </a:pPr>
            <a:r>
              <a:rPr sz="2400" dirty="0">
                <a:latin typeface="Arial"/>
                <a:cs typeface="Arial"/>
              </a:rPr>
              <a:t>Concatena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sola</a:t>
            </a:r>
            <a:endParaRPr sz="2400" dirty="0">
              <a:latin typeface="Arial"/>
              <a:cs typeface="Arial"/>
            </a:endParaRPr>
          </a:p>
          <a:p>
            <a:pPr marL="889635">
              <a:lnSpc>
                <a:spcPct val="100000"/>
              </a:lnSpc>
            </a:pPr>
            <a:r>
              <a:rPr sz="2400" dirty="0"/>
              <a:t>cadena</a:t>
            </a:r>
            <a:r>
              <a:rPr sz="2400" spc="-80" dirty="0"/>
              <a:t> </a:t>
            </a:r>
            <a:r>
              <a:rPr sz="2400" dirty="0"/>
              <a:t>separada</a:t>
            </a:r>
            <a:r>
              <a:rPr sz="2400" spc="-65" dirty="0"/>
              <a:t> </a:t>
            </a:r>
            <a:r>
              <a:rPr sz="2400" dirty="0"/>
              <a:t>por</a:t>
            </a:r>
            <a:r>
              <a:rPr sz="2400" spc="-80" dirty="0"/>
              <a:t> </a:t>
            </a:r>
            <a:r>
              <a:rPr sz="2400" dirty="0"/>
              <a:t>un</a:t>
            </a:r>
            <a:r>
              <a:rPr sz="2400" spc="-80" dirty="0"/>
              <a:t> </a:t>
            </a:r>
            <a:r>
              <a:rPr sz="2400" dirty="0"/>
              <a:t>carácter</a:t>
            </a:r>
            <a:r>
              <a:rPr sz="2400" spc="-75" dirty="0"/>
              <a:t> </a:t>
            </a:r>
            <a:r>
              <a:rPr sz="2400" spc="-10" dirty="0"/>
              <a:t>opcional.</a:t>
            </a:r>
            <a:endParaRPr sz="2400" dirty="0"/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 dirty="0"/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508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pizzas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Array(“Carbonara”,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“Quattro_Stagioni”, “Diavola”);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document.write(pizzas.join(“</a:t>
            </a:r>
            <a:r>
              <a:rPr sz="1800" spc="-1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“));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47620"/>
            <a:ext cx="7037070" cy="10337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reverse()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Invierte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37" y="4164965"/>
            <a:ext cx="65830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 marR="508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numeros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Array(1,2,3,4,5,6,7,8,9,10); numeros.reverse();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document.write(numeros);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2354580"/>
            <a:ext cx="7669530" cy="39700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unshift()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888365" marR="508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89635" algn="l"/>
              </a:tabLst>
            </a:pPr>
            <a:r>
              <a:rPr sz="2400" dirty="0">
                <a:latin typeface="Arial"/>
                <a:cs typeface="Arial"/>
              </a:rPr>
              <a:t>Añade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nuevos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inicio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y 	</a:t>
            </a:r>
            <a:r>
              <a:rPr sz="2400" dirty="0">
                <a:latin typeface="Arial"/>
                <a:cs typeface="Arial"/>
              </a:rPr>
              <a:t>devuelve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número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nuevo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 	modificado.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1090295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sedes_JJOO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Array(“Atenas”,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“Sydney”, “Atlanta”);</a:t>
            </a:r>
            <a:endParaRPr sz="1800" dirty="0">
              <a:latin typeface="Courier New"/>
              <a:cs typeface="Courier New"/>
            </a:endParaRPr>
          </a:p>
          <a:p>
            <a:pPr marL="285115" marR="54737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numero_sedes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sedes_JJOO.unshift(“Pekín”); </a:t>
            </a:r>
            <a:r>
              <a:rPr sz="1800" dirty="0">
                <a:latin typeface="Courier New"/>
                <a:cs typeface="Courier New"/>
              </a:rPr>
              <a:t>document.write(“Últimas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”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numero_sedes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sedes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olímpicas: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sedes_JJOO);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95220"/>
            <a:ext cx="6069965" cy="10337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shift()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Elimina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primer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37" y="4027805"/>
            <a:ext cx="7814309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508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pizzas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Array(“Carbonara”,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“Quattro_Stagioni”, “Diavola”);</a:t>
            </a:r>
            <a:endParaRPr sz="1800" dirty="0">
              <a:latin typeface="Courier New"/>
              <a:cs typeface="Courier New"/>
            </a:endParaRPr>
          </a:p>
          <a:p>
            <a:pPr marL="285115" marR="96710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pizza_removida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pizzas.shift(); </a:t>
            </a:r>
            <a:r>
              <a:rPr sz="1800" dirty="0">
                <a:latin typeface="Courier New"/>
                <a:cs typeface="Courier New"/>
              </a:rPr>
              <a:t>document.write(“Pizza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eliminada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de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la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lista: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pizza_removida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“&lt;br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/&gt;“);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document.write(“Nueva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lista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de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pizzas: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pizzas);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19020"/>
            <a:ext cx="6019800" cy="10337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pop()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Elimina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último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37" y="3829685"/>
            <a:ext cx="808037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508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premios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Array(“Coche”,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“1000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Euros”,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“Manual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de </a:t>
            </a:r>
            <a:r>
              <a:rPr sz="1800" spc="-10" dirty="0">
                <a:latin typeface="Courier New"/>
                <a:cs typeface="Courier New"/>
              </a:rPr>
              <a:t>JavaScript”);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tercer_premio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premios.pop();</a:t>
            </a:r>
            <a:endParaRPr sz="1800" dirty="0">
              <a:latin typeface="Courier New"/>
              <a:cs typeface="Courier New"/>
            </a:endParaRPr>
          </a:p>
          <a:p>
            <a:pPr marL="558165" marR="14097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document.write(“El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tercer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premio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es: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tercer_premio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 </a:t>
            </a:r>
            <a:r>
              <a:rPr sz="1800" dirty="0">
                <a:latin typeface="Courier New"/>
                <a:cs typeface="Courier New"/>
              </a:rPr>
              <a:t>“&lt;br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/&gt;“);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document.write(“Quedan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los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siguientes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premios: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premios);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2414271"/>
            <a:ext cx="7921625" cy="368172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slice()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889000" lvl="1" indent="-285750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89000" algn="l"/>
              </a:tabLst>
            </a:pPr>
            <a:r>
              <a:rPr sz="2400" dirty="0">
                <a:latin typeface="Arial"/>
                <a:cs typeface="Arial"/>
              </a:rPr>
              <a:t>Devuelve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nuevo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subconjunto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los</a:t>
            </a:r>
            <a:endParaRPr sz="2400" dirty="0">
              <a:latin typeface="Arial"/>
              <a:cs typeface="Arial"/>
            </a:endParaRPr>
          </a:p>
          <a:p>
            <a:pPr marL="88963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usado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método.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 marR="134302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numeros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Array(1,2,3,4,5,6,7,8,9,10);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primeros_cinco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numeros.slice(0,5);</a:t>
            </a:r>
            <a:endParaRPr sz="1800" dirty="0">
              <a:latin typeface="Courier New"/>
              <a:cs typeface="Courier New"/>
            </a:endParaRPr>
          </a:p>
          <a:p>
            <a:pPr marL="285115" marR="216217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ultimos_cuatro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numeros.slice(-</a:t>
            </a:r>
            <a:r>
              <a:rPr sz="1800" spc="-25" dirty="0">
                <a:latin typeface="Courier New"/>
                <a:cs typeface="Courier New"/>
              </a:rPr>
              <a:t>4); </a:t>
            </a:r>
            <a:r>
              <a:rPr sz="1800" spc="-10" dirty="0">
                <a:latin typeface="Courier New"/>
                <a:cs typeface="Courier New"/>
              </a:rPr>
              <a:t>document.write(primeros_cinco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“&lt;br&gt;“); document.write(ultimos_cuatro);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2430780"/>
            <a:ext cx="7902575" cy="37414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sort()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888365" marR="5080" lvl="1" indent="-285750" algn="just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89635" algn="l"/>
              </a:tabLst>
            </a:pPr>
            <a:r>
              <a:rPr sz="2400" dirty="0">
                <a:latin typeface="Arial"/>
                <a:cs typeface="Arial"/>
              </a:rPr>
              <a:t>Ordena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alfabéticamente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array. 	</a:t>
            </a:r>
            <a:r>
              <a:rPr sz="2400" dirty="0">
                <a:latin typeface="Arial"/>
                <a:cs typeface="Arial"/>
              </a:rPr>
              <a:t>Podemos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nueva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función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ordenarlos 	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otro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criterio.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apellidos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Array(“Pérez”,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“Guijarro”,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“Arias”,</a:t>
            </a:r>
            <a:endParaRPr sz="1800" dirty="0">
              <a:latin typeface="Courier New"/>
              <a:cs typeface="Courier New"/>
            </a:endParaRPr>
          </a:p>
          <a:p>
            <a:pPr marL="285115" marR="4053204" indent="272415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“González”); apellidos.sort(); document.write(apellidos);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2429510"/>
            <a:ext cx="7226934" cy="313309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88950" indent="-34290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88950" algn="l"/>
              </a:tabLst>
            </a:pP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splice()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876300" lvl="1" indent="-285750" algn="ctr">
              <a:lnSpc>
                <a:spcPct val="100000"/>
              </a:lnSpc>
              <a:spcBef>
                <a:spcPts val="785"/>
              </a:spcBef>
              <a:buFont typeface="Courier New"/>
              <a:buChar char="o"/>
              <a:tabLst>
                <a:tab pos="876300" algn="l"/>
              </a:tabLst>
            </a:pPr>
            <a:r>
              <a:rPr sz="2400" dirty="0">
                <a:latin typeface="Arial"/>
                <a:cs typeface="Arial"/>
              </a:rPr>
              <a:t>Elimina,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sustituye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añade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elementos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array</a:t>
            </a:r>
            <a:endParaRPr sz="2400" dirty="0">
              <a:latin typeface="Arial"/>
              <a:cs typeface="Arial"/>
            </a:endParaRPr>
          </a:p>
          <a:p>
            <a:pPr marL="591185"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dependiendo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argumentos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método.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285115" marR="240029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coches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Array(“Ferrari”,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“BMW”,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“Fiat”); coches.splice(2,0,”Seat”); document.write(coches);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105"/>
              </a:spcBef>
            </a:pPr>
            <a:r>
              <a:rPr dirty="0"/>
              <a:t>Objetos</a:t>
            </a:r>
            <a:r>
              <a:rPr spc="-65" dirty="0"/>
              <a:t> </a:t>
            </a:r>
            <a:r>
              <a:rPr dirty="0"/>
              <a:t>definidos</a:t>
            </a:r>
            <a:r>
              <a:rPr spc="-55" dirty="0"/>
              <a:t> </a:t>
            </a:r>
            <a:r>
              <a:rPr dirty="0"/>
              <a:t>por</a:t>
            </a:r>
            <a:r>
              <a:rPr spc="-40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31745"/>
            <a:ext cx="7787640" cy="3183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14375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JavaScript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proporciona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serie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objetos </a:t>
            </a:r>
            <a:r>
              <a:rPr sz="2800" dirty="0">
                <a:latin typeface="Arial"/>
                <a:cs typeface="Arial"/>
              </a:rPr>
              <a:t>predefinidos,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embargo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posible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crear </a:t>
            </a:r>
            <a:r>
              <a:rPr sz="2800" dirty="0">
                <a:latin typeface="Arial"/>
                <a:cs typeface="Arial"/>
              </a:rPr>
              <a:t>nuevos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objetos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definidos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usuario.</a:t>
            </a:r>
            <a:endParaRPr sz="2800" dirty="0">
              <a:latin typeface="Arial"/>
              <a:cs typeface="Arial"/>
            </a:endParaRPr>
          </a:p>
          <a:p>
            <a:pPr marL="355600" marR="53848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Cada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estos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objetos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puede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tener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sus </a:t>
            </a:r>
            <a:r>
              <a:rPr sz="2800" dirty="0">
                <a:latin typeface="Arial"/>
                <a:cs typeface="Arial"/>
              </a:rPr>
              <a:t>propios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métodos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propiedades.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creación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nuevos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objetos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resulta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útil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 </a:t>
            </a:r>
            <a:r>
              <a:rPr sz="2800" dirty="0">
                <a:latin typeface="Arial"/>
                <a:cs typeface="Arial"/>
              </a:rPr>
              <a:t>desarrollo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aplicaciones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avanzadas.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105"/>
              </a:spcBef>
            </a:pPr>
            <a:r>
              <a:rPr dirty="0"/>
              <a:t>Objetos</a:t>
            </a:r>
            <a:r>
              <a:rPr spc="-65" dirty="0"/>
              <a:t> </a:t>
            </a:r>
            <a:r>
              <a:rPr dirty="0"/>
              <a:t>definidos</a:t>
            </a:r>
            <a:r>
              <a:rPr spc="-55" dirty="0"/>
              <a:t> </a:t>
            </a:r>
            <a:r>
              <a:rPr dirty="0"/>
              <a:t>por</a:t>
            </a:r>
            <a:r>
              <a:rPr spc="-40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7915"/>
            <a:ext cx="7938770" cy="37280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Declaración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inicialización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objetos:</a:t>
            </a:r>
            <a:endParaRPr sz="2800" dirty="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Font typeface="Courier New"/>
              <a:buChar char="o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Un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entidad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posee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unas 	</a:t>
            </a:r>
            <a:r>
              <a:rPr sz="2400" dirty="0">
                <a:latin typeface="Arial"/>
                <a:cs typeface="Arial"/>
              </a:rPr>
              <a:t>propiedades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caracterizan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métodos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que 	</a:t>
            </a:r>
            <a:r>
              <a:rPr sz="2400" dirty="0">
                <a:latin typeface="Arial"/>
                <a:cs typeface="Arial"/>
              </a:rPr>
              <a:t>actúan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sobre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propiedades.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Su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sintaxis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siguiente:</a:t>
            </a:r>
            <a:endParaRPr sz="2400" dirty="0">
              <a:latin typeface="Arial"/>
              <a:cs typeface="Arial"/>
            </a:endParaRPr>
          </a:p>
          <a:p>
            <a:pPr marL="439420" marR="1341755" indent="-273050">
              <a:lnSpc>
                <a:spcPct val="100000"/>
              </a:lnSpc>
              <a:spcBef>
                <a:spcPts val="1614"/>
              </a:spcBef>
            </a:pPr>
            <a:r>
              <a:rPr sz="1800" dirty="0">
                <a:latin typeface="Courier New"/>
                <a:cs typeface="Courier New"/>
              </a:rPr>
              <a:t>function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mi_objeto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(valor_1,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valor_2,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valor_x){ </a:t>
            </a:r>
            <a:r>
              <a:rPr sz="1800" dirty="0">
                <a:latin typeface="Courier New"/>
                <a:cs typeface="Courier New"/>
              </a:rPr>
              <a:t>this.propiedad_1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valor_1;</a:t>
            </a:r>
            <a:endParaRPr sz="1800" dirty="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this.propiedad_2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valor_2;</a:t>
            </a:r>
            <a:endParaRPr sz="1800" dirty="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this.propiedad_x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valor_x;</a:t>
            </a:r>
            <a:endParaRPr sz="1800" dirty="0">
              <a:latin typeface="Courier New"/>
              <a:cs typeface="Courier New"/>
            </a:endParaRPr>
          </a:p>
          <a:p>
            <a:pPr marL="167005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105"/>
              </a:spcBef>
            </a:pPr>
            <a:r>
              <a:rPr dirty="0"/>
              <a:t>Objetos</a:t>
            </a:r>
            <a:r>
              <a:rPr spc="-65" dirty="0"/>
              <a:t> </a:t>
            </a:r>
            <a:r>
              <a:rPr dirty="0"/>
              <a:t>definidos</a:t>
            </a:r>
            <a:r>
              <a:rPr spc="-55" dirty="0"/>
              <a:t> </a:t>
            </a:r>
            <a:r>
              <a:rPr dirty="0"/>
              <a:t>por</a:t>
            </a:r>
            <a:r>
              <a:rPr spc="-40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7280"/>
            <a:ext cx="1750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Ejemplo: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473" y="3310890"/>
            <a:ext cx="644715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</a:t>
            </a:r>
            <a:endParaRPr sz="1800" dirty="0">
              <a:latin typeface="Courier New"/>
              <a:cs typeface="Courier New"/>
            </a:endParaRPr>
          </a:p>
          <a:p>
            <a:pPr marL="558165" marR="5080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function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Coche(marca_in,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modelo_in,</a:t>
            </a:r>
            <a:r>
              <a:rPr sz="1800" spc="-11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anyo_in){ </a:t>
            </a:r>
            <a:r>
              <a:rPr sz="1800" dirty="0">
                <a:latin typeface="Courier New"/>
                <a:cs typeface="Courier New"/>
              </a:rPr>
              <a:t>this.marca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marca_in;</a:t>
            </a:r>
            <a:endParaRPr sz="1800" dirty="0">
              <a:latin typeface="Courier New"/>
              <a:cs typeface="Courier New"/>
            </a:endParaRPr>
          </a:p>
          <a:p>
            <a:pPr marL="558165" marR="25971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this.modelo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modelo_in; </a:t>
            </a:r>
            <a:r>
              <a:rPr sz="1800" dirty="0">
                <a:latin typeface="Courier New"/>
                <a:cs typeface="Courier New"/>
              </a:rPr>
              <a:t>this.anyo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anyo_in;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105"/>
              </a:spcBef>
            </a:pPr>
            <a:r>
              <a:rPr dirty="0"/>
              <a:t>Objetos</a:t>
            </a:r>
            <a:r>
              <a:rPr spc="-65" dirty="0"/>
              <a:t> </a:t>
            </a:r>
            <a:r>
              <a:rPr dirty="0"/>
              <a:t>definidos</a:t>
            </a:r>
            <a:r>
              <a:rPr spc="-55" dirty="0"/>
              <a:t> </a:t>
            </a:r>
            <a:r>
              <a:rPr dirty="0"/>
              <a:t>por</a:t>
            </a:r>
            <a:r>
              <a:rPr spc="-40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2389505"/>
            <a:ext cx="7812405" cy="40874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88950" marR="113030" indent="-342900">
              <a:lnSpc>
                <a:spcPts val="2710"/>
              </a:lnSpc>
              <a:spcBef>
                <a:spcPts val="330"/>
              </a:spcBef>
              <a:buFont typeface="Wingdings"/>
              <a:buChar char=""/>
              <a:tabLst>
                <a:tab pos="488950" algn="l"/>
              </a:tabLst>
            </a:pPr>
            <a:r>
              <a:rPr sz="2400" dirty="0">
                <a:latin typeface="Arial"/>
                <a:cs typeface="Arial"/>
              </a:rPr>
              <a:t>Una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vez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declarado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nuevo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tipo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pueden </a:t>
            </a:r>
            <a:r>
              <a:rPr sz="2400" dirty="0">
                <a:latin typeface="Arial"/>
                <a:cs typeface="Arial"/>
              </a:rPr>
              <a:t>crear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instancias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mediante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palabra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clave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new</a:t>
            </a:r>
            <a:r>
              <a:rPr sz="2400" spc="-2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285115" marR="3552825" indent="-273050">
              <a:lnSpc>
                <a:spcPct val="100000"/>
              </a:lnSpc>
              <a:spcBef>
                <a:spcPts val="405"/>
              </a:spcBef>
            </a:pPr>
            <a:r>
              <a:rPr sz="1800" dirty="0">
                <a:latin typeface="Courier New"/>
                <a:cs typeface="Courier New"/>
              </a:rPr>
              <a:t>&lt;script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type=“text/javascript”&gt; </a:t>
            </a: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Array(4);</a:t>
            </a:r>
            <a:endParaRPr sz="1800" dirty="0">
              <a:latin typeface="Courier New"/>
              <a:cs typeface="Courier New"/>
            </a:endParaRPr>
          </a:p>
          <a:p>
            <a:pPr marL="285115" marR="508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coches[0]</a:t>
            </a:r>
            <a:r>
              <a:rPr sz="1800" spc="-1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Coche(“Ferrari”,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“Scaglietti”,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“2010”); </a:t>
            </a:r>
            <a:r>
              <a:rPr sz="1800" dirty="0">
                <a:latin typeface="Courier New"/>
                <a:cs typeface="Courier New"/>
              </a:rPr>
              <a:t>coches[1]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Coche(“BMW”,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“Z4”,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“2010”);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coches[2]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Coche(“Seat”,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“Toledo”,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“1999”);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coches[3]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Coche(“Fiat”,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“500”,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“1995”);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for(i=0;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i&lt;coches.length;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i++){</a:t>
            </a:r>
            <a:endParaRPr sz="18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  <a:tabLst>
                <a:tab pos="4107179" algn="l"/>
              </a:tabLst>
            </a:pPr>
            <a:r>
              <a:rPr sz="1800" dirty="0">
                <a:latin typeface="Courier New"/>
                <a:cs typeface="Courier New"/>
              </a:rPr>
              <a:t>document.write(“Marca:</a:t>
            </a:r>
            <a:r>
              <a:rPr sz="1800" spc="-22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”</a:t>
            </a:r>
            <a:r>
              <a:rPr sz="1800" dirty="0">
                <a:latin typeface="Courier New"/>
                <a:cs typeface="Courier New"/>
              </a:rPr>
              <a:t>	+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coches[i].marca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+</a:t>
            </a:r>
            <a:endParaRPr sz="1800" dirty="0">
              <a:latin typeface="Courier New"/>
              <a:cs typeface="Courier New"/>
            </a:endParaRPr>
          </a:p>
          <a:p>
            <a:pPr marL="558165" marR="14160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Modelo: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”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coches[i].modelo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A&amp;ntilde;o  </a:t>
            </a:r>
            <a:r>
              <a:rPr sz="1800" dirty="0">
                <a:latin typeface="Courier New"/>
                <a:cs typeface="Courier New"/>
              </a:rPr>
              <a:t>de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fabricaci&amp;oacute;n: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”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coches[i].anyo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“&lt;br&gt;”);</a:t>
            </a:r>
            <a:endParaRPr sz="1800" dirty="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&lt;/script&gt;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105"/>
              </a:spcBef>
            </a:pPr>
            <a:r>
              <a:rPr dirty="0"/>
              <a:t>Objetos</a:t>
            </a:r>
            <a:r>
              <a:rPr spc="-65" dirty="0"/>
              <a:t> </a:t>
            </a:r>
            <a:r>
              <a:rPr dirty="0"/>
              <a:t>definidos</a:t>
            </a:r>
            <a:r>
              <a:rPr spc="-55" dirty="0"/>
              <a:t> </a:t>
            </a:r>
            <a:r>
              <a:rPr dirty="0"/>
              <a:t>por</a:t>
            </a:r>
            <a:r>
              <a:rPr spc="-40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2550160"/>
            <a:ext cx="8147684" cy="316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88950" algn="l"/>
              </a:tabLst>
            </a:pPr>
            <a:r>
              <a:rPr sz="2400" dirty="0">
                <a:latin typeface="Arial"/>
                <a:cs typeface="Arial"/>
              </a:rPr>
              <a:t>Es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posible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añadir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otras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propiedades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cada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instancia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del </a:t>
            </a:r>
            <a:r>
              <a:rPr sz="2400" dirty="0">
                <a:latin typeface="Arial"/>
                <a:cs typeface="Arial"/>
              </a:rPr>
              <a:t>objeto,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ejemplo: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400" dirty="0">
              <a:latin typeface="Arial"/>
              <a:cs typeface="Arial"/>
            </a:endParaRPr>
          </a:p>
          <a:p>
            <a:pPr marL="285115" marR="1840864" indent="-27305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function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(marca_in,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modelo_in,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anyo_in){ </a:t>
            </a:r>
            <a:r>
              <a:rPr sz="1800" dirty="0">
                <a:latin typeface="Courier New"/>
                <a:cs typeface="Courier New"/>
              </a:rPr>
              <a:t>this.marca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marca_in;</a:t>
            </a:r>
            <a:endParaRPr sz="1800" dirty="0">
              <a:latin typeface="Courier New"/>
              <a:cs typeface="Courier New"/>
            </a:endParaRPr>
          </a:p>
          <a:p>
            <a:pPr marL="285115" marR="457263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this.modelo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modelo_in; </a:t>
            </a:r>
            <a:r>
              <a:rPr sz="1800" dirty="0">
                <a:latin typeface="Courier New"/>
                <a:cs typeface="Courier New"/>
              </a:rPr>
              <a:t>this.anyo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anyo_in;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var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mi_coche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coche(“Pegeout”,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“206cc”,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“2003”);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urier New"/>
                <a:cs typeface="Courier New"/>
              </a:rPr>
              <a:t>mi_coche.color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“azul”;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Berlín</Template>
  <TotalTime>16</TotalTime>
  <Words>3072</Words>
  <Application>Microsoft Office PowerPoint</Application>
  <PresentationFormat>Presentación en pantalla (4:3)</PresentationFormat>
  <Paragraphs>381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Arial</vt:lpstr>
      <vt:lpstr>Calibri</vt:lpstr>
      <vt:lpstr>Courier New</vt:lpstr>
      <vt:lpstr>Times New Roman</vt:lpstr>
      <vt:lpstr>Trebuchet MS</vt:lpstr>
      <vt:lpstr>Wingdings</vt:lpstr>
      <vt:lpstr>Berlín</vt:lpstr>
      <vt:lpstr>Programación con arrays, funciones y objetos definidos por el usuario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predefinidas del lenguaje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Funciones del usuario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Objetos definidos por el usuario</vt:lpstr>
      <vt:lpstr>Objetos definidos por el usuario</vt:lpstr>
      <vt:lpstr>Objetos definidos por el usuario</vt:lpstr>
      <vt:lpstr>Objetos definidos por el usuario</vt:lpstr>
      <vt:lpstr>Objetos definidos por el usuario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terms:created xsi:type="dcterms:W3CDTF">2024-10-10T16:31:44Z</dcterms:created>
  <dcterms:modified xsi:type="dcterms:W3CDTF">2024-10-10T16:53:37Z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2012-07-26T00:00:00Z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2024-10-10T00:00:00Z</vt:filetime>
  </property>
  <property fmtid="{D5CDD505-2E9C-101B-9397-08002B2CF9AE}" pid="5" name="Producer">
    <vt:lpwstr>Microsoft® Office PowerPoint® 2007</vt:lpwstr>
  </property>
</Properties>
</file>